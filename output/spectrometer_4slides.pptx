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51" r:id="rId2"/>
  </p:sldMasterIdLst>
  <p:notesMasterIdLst>
    <p:notesMasterId r:id="rId12"/>
  </p:notesMasterIdLst>
  <p:sldIdLst>
    <p:sldId id="377" r:id="rId5"/>
    <p:sldId id="379" r:id="rId6"/>
    <p:sldId id="380" r:id="rId7"/>
    <p:sldId id="362" r:id="rId8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 Classic Bold" panose="02010600030101010101" charset="0"/>
      <p:bold r:id="rId17"/>
    </p:embeddedFont>
    <p:embeddedFont>
      <p:font typeface="Montserrat Extra-Bold" panose="02010600030101010101" charset="0"/>
      <p:bold r:id="rId18"/>
    </p:embeddedFont>
    <p:embeddedFont>
      <p:font typeface="微软雅黑" panose="020B0503020204020204" pitchFamily="34" charset="-122"/>
      <p:regular r:id="rId19"/>
      <p:bold r:id="rId20"/>
    </p:embeddedFont>
  </p:embeddedFontLst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6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314"/>
    <a:srgbClr val="0070C0"/>
    <a:srgbClr val="9F0105"/>
    <a:srgbClr val="1211CA"/>
    <a:srgbClr val="A00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46" d="100"/>
          <a:sy n="46" d="100"/>
        </p:scale>
        <p:origin x="63" y="192"/>
      </p:cViewPr>
      <p:guideLst>
        <p:guide orient="horz" pos="2116"/>
        <p:guide pos="26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 userDrawn="1"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7" name="Freeform 3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8" name="TextBox 4"/>
            <p:cNvSpPr txBox="1"/>
            <p:nvPr>
              <p:custDataLst>
                <p:tags r:id="rId9"/>
              </p:custDataLst>
            </p:nvPr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7"/>
          <p:cNvSpPr txBox="1"/>
          <p:nvPr userDrawn="1">
            <p:custDataLst>
              <p:tags r:id="rId1"/>
            </p:custDataLst>
          </p:nvPr>
        </p:nvSpPr>
        <p:spPr>
          <a:xfrm rot="-5400000">
            <a:off x="-775100" y="7118750"/>
            <a:ext cx="3974630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 b="1">
                <a:solidFill>
                  <a:srgbClr val="101010"/>
                </a:solidFill>
                <a:latin typeface="微软雅黑" panose="020B0503020204020204" charset="-122"/>
                <a:ea typeface="微软雅黑" panose="020B0503020204020204" charset="-122"/>
              </a:rPr>
              <a:t>photonics.pku.edu.cn</a:t>
            </a:r>
          </a:p>
        </p:txBody>
      </p:sp>
      <p:grpSp>
        <p:nvGrpSpPr>
          <p:cNvPr id="10" name="Group 10"/>
          <p:cNvGrpSpPr/>
          <p:nvPr userDrawn="1"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11" name="Freeform 11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2" name="TextBox 12"/>
            <p:cNvSpPr txBox="1"/>
            <p:nvPr>
              <p:custDataLst>
                <p:tags r:id="rId7"/>
              </p:custDataLst>
            </p:nvPr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rcRect l="41870" t="-6158"/>
          <a:stretch>
            <a:fillRect/>
          </a:stretch>
        </p:blipFill>
        <p:spPr>
          <a:xfrm>
            <a:off x="13044170" y="671195"/>
            <a:ext cx="4542790" cy="10509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 l="917" t="-6158" r="63005" b="-1604"/>
          <a:stretch>
            <a:fillRect/>
          </a:stretch>
        </p:blipFill>
        <p:spPr>
          <a:xfrm>
            <a:off x="10210800" y="647700"/>
            <a:ext cx="2819400" cy="1066800"/>
          </a:xfrm>
          <a:prstGeom prst="rect">
            <a:avLst/>
          </a:prstGeom>
        </p:spPr>
      </p:pic>
      <p:sp>
        <p:nvSpPr>
          <p:cNvPr id="14" name="Footer Placeholder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258300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4451985" y="144780"/>
            <a:ext cx="93840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42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 userDrawn="1">
            <p:custDataLst>
              <p:tags r:id="rId2"/>
            </p:custDataLst>
          </p:nvPr>
        </p:nvCxnSpPr>
        <p:spPr>
          <a:xfrm>
            <a:off x="1172528" y="1017270"/>
            <a:ext cx="15874365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2134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149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3049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035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>
            <p:custDataLst>
              <p:tags r:id="rId1"/>
            </p:custDataLst>
          </p:nvPr>
        </p:nvCxnSpPr>
        <p:spPr>
          <a:xfrm>
            <a:off x="1172528" y="1017270"/>
            <a:ext cx="15874365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7175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696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9021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6089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90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6359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63203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15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004867" y="9667531"/>
            <a:ext cx="4114800" cy="547688"/>
          </a:xfrm>
        </p:spPr>
        <p:txBody>
          <a:bodyPr/>
          <a:lstStyle>
            <a:lvl1pPr>
              <a:defRPr sz="21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86AB646-09EA-441B-8B03-D5BB83023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8288000" cy="10931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</p:spTree>
    <p:extLst>
      <p:ext uri="{BB962C8B-B14F-4D97-AF65-F5344CB8AC3E}">
        <p14:creationId xmlns:p14="http://schemas.microsoft.com/office/powerpoint/2010/main" val="4112033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2.xml"/><Relationship Id="rId5" Type="http://schemas.openxmlformats.org/officeDocument/2006/relationships/tags" Target="../tags/tag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9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3" name="TextBox 20"/>
          <p:cNvSpPr txBox="1"/>
          <p:nvPr/>
        </p:nvSpPr>
        <p:spPr>
          <a:xfrm>
            <a:off x="1028700" y="752475"/>
            <a:ext cx="4811395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背景介绍及简介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1737360"/>
            <a:ext cx="15819120" cy="7772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42ABC5"/>
                </a:solidFill>
                <a:latin typeface="Noto Sans CJK SC"/>
              </a:rPr>
              <a:t>从台式系统到片上光谱仪：为什么要微型化？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359" y="9555480"/>
            <a:ext cx="548640" cy="3657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647780"/>
                </a:solidFill>
                <a:latin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79192"/>
            <a:ext cx="16184880" cy="6400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D262A"/>
                </a:solidFill>
                <a:latin typeface="Noto Sans CJK SC"/>
              </a:rPr>
              <a:t>光谱记录光强随波长的分布，为物质识别与成分分析提供“指纹”。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3675887"/>
            <a:ext cx="5166360" cy="31089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" y="3675887"/>
            <a:ext cx="59436" cy="31089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3877055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传统台式系统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590288"/>
            <a:ext cx="4709160" cy="21488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色散器件与长光路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探测阵列及精密光机结构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性能强，但体积与成本较高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675887"/>
            <a:ext cx="5166360" cy="31089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10528" y="3675887"/>
            <a:ext cx="59436" cy="31089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877055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微型化驱动力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4590288"/>
            <a:ext cx="4709160" cy="21488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现场检测与即时反馈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降低体积、功耗与系统成本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推动便携设备和原位分析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996928" y="3675887"/>
            <a:ext cx="5166360" cy="31089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96928" y="3675887"/>
            <a:ext cx="59436" cy="31089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25528" y="3877055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硅基集成的价值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25528" y="4590288"/>
            <a:ext cx="4709160" cy="21488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高折射率差支持紧凑器件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兼容成熟光刻与批量制造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可结合探测器及电子读出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7187184"/>
            <a:ext cx="15544800" cy="5029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900" b="1">
                <a:solidFill>
                  <a:srgbClr val="1D6173"/>
                </a:solidFill>
                <a:latin typeface="Noto Sans CJK SC"/>
              </a:rPr>
              <a:t>典型需求：让光谱分析走出实验室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" y="7882127"/>
            <a:ext cx="3840480" cy="114300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800100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D6173"/>
                </a:solidFill>
                <a:latin typeface="Noto Sans CJK SC"/>
              </a:rPr>
              <a:t>健康监测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850392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647780"/>
                </a:solidFill>
                <a:latin typeface="Noto Sans CJK SC"/>
              </a:rPr>
              <a:t>可穿戴 / 生物传感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75504" y="7882127"/>
            <a:ext cx="3840480" cy="114300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0096" y="800100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D6173"/>
                </a:solidFill>
                <a:latin typeface="Noto Sans CJK SC"/>
              </a:rPr>
              <a:t>食品安全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0096" y="850392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647780"/>
                </a:solidFill>
                <a:latin typeface="Noto Sans CJK SC"/>
              </a:rPr>
              <a:t>成分检测 / 品质筛查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7882127"/>
            <a:ext cx="3840480" cy="114300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800100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D6173"/>
                </a:solidFill>
                <a:latin typeface="Noto Sans CJK SC"/>
              </a:rPr>
              <a:t>智能终端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850392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647780"/>
                </a:solidFill>
                <a:latin typeface="Noto Sans CJK SC"/>
              </a:rPr>
              <a:t>手机集成 / 便携分析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478256" y="7882127"/>
            <a:ext cx="3840480" cy="114300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642848" y="800100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D6173"/>
                </a:solidFill>
                <a:latin typeface="Noto Sans CJK SC"/>
              </a:rPr>
              <a:t>遥感农业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42848" y="8503920"/>
            <a:ext cx="352044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647780"/>
                </a:solidFill>
                <a:latin typeface="Noto Sans CJK SC"/>
              </a:rPr>
              <a:t>无人机 / 作物监测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9528048"/>
            <a:ext cx="14996159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780"/>
                </a:solidFill>
                <a:latin typeface="Noto Sans CJK SC"/>
              </a:rPr>
              <a:t>来源：Li et al., Light: Science &amp; Applications 11, 174 (2022). DOI: 10.1038/s41377-022-00853-1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7" name="TextBox 20"/>
          <p:cNvSpPr txBox="1"/>
          <p:nvPr/>
        </p:nvSpPr>
        <p:spPr>
          <a:xfrm>
            <a:off x="1028700" y="752475"/>
            <a:ext cx="4811395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背景介绍及简介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1737360"/>
            <a:ext cx="15819120" cy="7772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42ABC5"/>
                </a:solidFill>
                <a:latin typeface="Noto Sans CJK SC"/>
              </a:rPr>
              <a:t>关键性能指标：按应用需求选择，而非只追求更小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359" y="9555480"/>
            <a:ext cx="548640" cy="3657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647780"/>
                </a:solidFill>
                <a:latin typeface="Noto Sans CJK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79192"/>
            <a:ext cx="16184880" cy="5943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D262A"/>
                </a:solidFill>
                <a:latin typeface="Noto Sans CJK SC"/>
              </a:rPr>
              <a:t>微型化需要在尺寸、分辨率、带宽、速度与信噪比之间取得平衡。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3657600"/>
            <a:ext cx="5166360" cy="3090672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" y="3657600"/>
            <a:ext cx="59436" cy="3090672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3858768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分辨率 δλ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572000"/>
            <a:ext cx="4709160" cy="213055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区分相邻谱线的能力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常用窄线响应的 FWHM 表征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δλ 越小，可分辨细节越精细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657600"/>
            <a:ext cx="5166360" cy="3090672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10528" y="3657600"/>
            <a:ext cx="59436" cy="3090672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858768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工作带宽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4572000"/>
            <a:ext cx="4709160" cy="213055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可测量的波长范围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需覆盖目标物质的特征谱段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更宽带宽通常需要更多采样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996928" y="3657600"/>
            <a:ext cx="5166360" cy="3090672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96928" y="3657600"/>
            <a:ext cx="59436" cy="3090672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25528" y="3858768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通道与采样能力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25528" y="4572000"/>
            <a:ext cx="4709160" cy="213055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粗略谱分辨单元数：N ≈ B / δλ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例：100 nm / 1 nm ≈ 100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不等同于重建系统的探测器数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" y="7178040"/>
            <a:ext cx="16139159" cy="1755648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7360920"/>
            <a:ext cx="3749039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900" b="1">
                <a:solidFill>
                  <a:srgbClr val="1D6173"/>
                </a:solidFill>
                <a:latin typeface="Noto Sans CJK SC"/>
              </a:rPr>
              <a:t>系统层面同样关键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7342631"/>
            <a:ext cx="11521440" cy="13258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2D262A"/>
                </a:solidFill>
                <a:latin typeface="Noto Sans CJK SC"/>
              </a:rPr>
              <a:t>速度：单次并行采集，还是调谐 / 扫描？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2D262A"/>
                </a:solidFill>
                <a:latin typeface="Noto Sans CJK SC"/>
              </a:rPr>
              <a:t>信号质量：插入损耗、动态范围、噪声与标定稳定性。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2D262A"/>
                </a:solidFill>
                <a:latin typeface="Noto Sans CJK SC"/>
              </a:rPr>
              <a:t>工程实现：耦合、探测、温控、封装与批量制造成本。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9528048"/>
            <a:ext cx="14996159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780"/>
                </a:solidFill>
                <a:latin typeface="Noto Sans CJK SC"/>
              </a:rPr>
              <a:t>来源：Li et al., Light: Science &amp; Applications 11, 174 (2022). DOI: 10.1038/s41377-022-00853-1；指标定义综合 Yang et al. (2021)。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11" name="TextBox 20"/>
          <p:cNvSpPr txBox="1"/>
          <p:nvPr/>
        </p:nvSpPr>
        <p:spPr>
          <a:xfrm>
            <a:off x="1028700" y="752475"/>
            <a:ext cx="4811395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集成光谱仪分类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1737360"/>
            <a:ext cx="15819120" cy="7772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42ABC5"/>
                </a:solidFill>
                <a:latin typeface="Noto Sans CJK SC"/>
              </a:rPr>
              <a:t>两种测量思路，四类典型技术路线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96359" y="9555480"/>
            <a:ext cx="548640" cy="3657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647780"/>
                </a:solidFill>
                <a:latin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679192"/>
            <a:ext cx="16184880" cy="6400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D262A"/>
                </a:solidFill>
                <a:latin typeface="Noto Sans CJK SC"/>
              </a:rPr>
              <a:t>依据光谱信息的获取方式，可分为波长解复用（WdM）与波长复用（WM）。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611880"/>
            <a:ext cx="7909560" cy="1234440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373075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波长解复用 WdM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315968"/>
            <a:ext cx="7406640" cy="384048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Noto Sans CJK SC"/>
              </a:rPr>
              <a:t>将不同波长分离，逐通道测量强度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3611880"/>
            <a:ext cx="7909560" cy="1234440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373075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波长复用 WM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4315968"/>
            <a:ext cx="7406640" cy="384048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Noto Sans CJK SC"/>
              </a:rPr>
              <a:t>先对光谱整体编码，再计算恢复光谱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" y="5166360"/>
            <a:ext cx="3794760" cy="33375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5166360"/>
            <a:ext cx="59436" cy="33375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5367528"/>
            <a:ext cx="33375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01  色散型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6080760"/>
            <a:ext cx="3337560" cy="23774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利用波长相关的传播 / 干涉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使不同波长到达不同位置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代表：AWG、平面凹面光栅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5166360"/>
            <a:ext cx="3794760" cy="33375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38928" y="5166360"/>
            <a:ext cx="59436" cy="33375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8" y="5367528"/>
            <a:ext cx="33375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02  窄带滤波型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6080760"/>
            <a:ext cx="3337560" cy="23774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用选择性透射响应采样光谱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采用滤波器阵列或可调滤波器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代表：微环、布拉格光栅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5166360"/>
            <a:ext cx="3794760" cy="33375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53728" y="5166360"/>
            <a:ext cx="59436" cy="33375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82328" y="5367528"/>
            <a:ext cx="33375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03  傅里叶变换型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6080760"/>
            <a:ext cx="3337560" cy="23774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记录随光程差变化的干涉信号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通过傅里叶变换得到光谱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代表：马赫–曾德尔干涉仪阵列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68528" y="5166360"/>
            <a:ext cx="3794760" cy="3337560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368528" y="5166360"/>
            <a:ext cx="59436" cy="3337560"/>
          </a:xfrm>
          <a:prstGeom prst="rect">
            <a:avLst/>
          </a:prstGeom>
          <a:solidFill>
            <a:srgbClr val="42A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597128" y="5367528"/>
            <a:ext cx="333756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D6173"/>
                </a:solidFill>
                <a:latin typeface="Noto Sans CJK SC"/>
              </a:rPr>
              <a:t>04  计算重建型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97128" y="6080760"/>
            <a:ext cx="3337560" cy="2377439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用多组不同宽带响应编码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结合标定矩阵与算法求解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D262A"/>
                </a:solidFill>
                <a:latin typeface="Noto Sans CJK SC"/>
              </a:rPr>
              <a:t>代表：散斑 / 随机散射结构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8823960"/>
            <a:ext cx="15910559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D6173"/>
                </a:solidFill>
                <a:latin typeface="Noto Sans CJK SC"/>
              </a:rPr>
              <a:t>分类对应关系：Yang（2021）的四类路线，可归入 Li（2022）的 WdM / WM 两大框架。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9528048"/>
            <a:ext cx="14996159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780"/>
                </a:solidFill>
                <a:latin typeface="Noto Sans CJK SC"/>
              </a:rPr>
              <a:t>来源：Li et al. (2022), Fig. 6；Yang et al., Science 371, eabe0722 (2021). DOI: 10.1126/science.abe0722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1028700" y="752475"/>
            <a:ext cx="4811395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集成光谱仪分类</a:t>
            </a: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4128" y="1737360"/>
            <a:ext cx="15819120" cy="7772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42ABC5"/>
                </a:solidFill>
                <a:latin typeface="Noto Sans CJK SC"/>
              </a:rPr>
              <a:t>四类方案的优势与约束：如何选择技术路线？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96359" y="9555480"/>
            <a:ext cx="548640" cy="3657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647780"/>
                </a:solidFill>
                <a:latin typeface="Noto Sans CJK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679192"/>
            <a:ext cx="16184880" cy="59436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D262A"/>
                </a:solidFill>
                <a:latin typeface="Noto Sans CJK SC"/>
              </a:rPr>
              <a:t>各路线没有统一的性能排名；应结合目标谱段、采集方式与系统复杂度选择。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3611880"/>
            <a:ext cx="2953512" cy="667512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730752"/>
            <a:ext cx="2679192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技术路线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611880"/>
            <a:ext cx="4251960" cy="667512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3730752"/>
            <a:ext cx="397764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光谱获取方式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4572000" cy="667512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730752"/>
            <a:ext cx="429768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主要优势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0" y="3611880"/>
            <a:ext cx="4361688" cy="667512"/>
          </a:xfrm>
          <a:prstGeom prst="rect">
            <a:avLst/>
          </a:prstGeom>
          <a:solidFill>
            <a:srgbClr val="1D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66192" y="3730752"/>
            <a:ext cx="4087368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主要约束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" y="4279392"/>
            <a:ext cx="2953512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434840"/>
            <a:ext cx="2624328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色散型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AWG / PCG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4279392"/>
            <a:ext cx="4251960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2231" y="4434840"/>
            <a:ext cx="392277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空间分离各波长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探测阵列并行读出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279392"/>
            <a:ext cx="4572000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4434840"/>
            <a:ext cx="424281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原理直观，读出直接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适合多通道并行采集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0" y="4279392"/>
            <a:ext cx="4361688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66192" y="4434840"/>
            <a:ext cx="4032503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尺寸与分辨率相互制约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需考虑串扰与耦合损耗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" y="5312664"/>
            <a:ext cx="2953512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5468112"/>
            <a:ext cx="2624328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窄带滤波型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微环 / 光栅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5312664"/>
            <a:ext cx="4251960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42231" y="5468112"/>
            <a:ext cx="392277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滤波器阵列并行采样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或单滤波器调谐扫描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312664"/>
            <a:ext cx="4572000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5468112"/>
            <a:ext cx="424281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器件紧凑，易于片上集成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可针对特定谱段设计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0" y="5312664"/>
            <a:ext cx="4361688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66192" y="5468112"/>
            <a:ext cx="4032503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带宽与通道数存在权衡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对工艺偏差、温漂敏感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128" y="6345936"/>
            <a:ext cx="2953512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6501383"/>
            <a:ext cx="2624328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傅里叶变换型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FTS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6345936"/>
            <a:ext cx="4251960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1" y="6501383"/>
            <a:ext cx="392277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采集干涉图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经傅里叶变换获得光谱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6345936"/>
            <a:ext cx="4572000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2" y="6501383"/>
            <a:ext cx="424281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无需逐波长窄带分离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可用集成干涉结构实现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801600" y="6345936"/>
            <a:ext cx="4361688" cy="1033271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66192" y="6501383"/>
            <a:ext cx="4032503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高分辨率需要较大光程差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扫描或阵列增加系统开销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" y="7379208"/>
            <a:ext cx="2953512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" y="7534656"/>
            <a:ext cx="2624328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计算重建型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6173"/>
                </a:solidFill>
                <a:latin typeface="Noto Sans CJK SC"/>
              </a:rPr>
              <a:t>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7639" y="7379208"/>
            <a:ext cx="4251960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2231" y="7534656"/>
            <a:ext cx="392277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宽带响应编码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标定后反演光谱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7379208"/>
            <a:ext cx="4572000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94192" y="7534656"/>
            <a:ext cx="4242816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硬件结构可高度紧凑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算法参与性能优化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801600" y="7379208"/>
            <a:ext cx="4361688" cy="1033271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966192" y="7534656"/>
            <a:ext cx="4032503" cy="8686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依赖标定质量与响应差异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D262A"/>
                </a:solidFill>
                <a:latin typeface="Noto Sans CJK SC"/>
              </a:rPr>
              <a:t>受噪声、漂移及先验影响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4128" y="8668512"/>
            <a:ext cx="16139159" cy="521207"/>
          </a:xfrm>
          <a:prstGeom prst="rect">
            <a:avLst/>
          </a:prstGeom>
          <a:solidFill>
            <a:srgbClr val="ED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88720" y="8714232"/>
            <a:ext cx="15727680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1D6173"/>
                </a:solidFill>
                <a:latin typeface="Noto Sans CJK SC"/>
              </a:rPr>
              <a:t>选型顺序：明确目标谱段与 δλ → 确定带宽与速度 → 评估标定、温控、封装及制造成本。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9528048"/>
            <a:ext cx="14996159" cy="393192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780"/>
                </a:solidFill>
                <a:latin typeface="Noto Sans CJK SC"/>
              </a:rPr>
              <a:t>来源：Li et al., Light: Science &amp; Applications 11, 174 (2022). DOI: 10.1038/s41377-022-00853-1；Yang et al. (2021)。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609bdd2-04c5-4812-8440-e56f09348c0c"/>
  <p:tag name="COMMONDATA" val="eyJoZGlkIjoiYmQ3NGM2NGQ0MWZlYjcyZTQyYjFiNzM2YTliNGQy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505</Words>
  <Application>Microsoft Office PowerPoint</Application>
  <PresentationFormat>自定义</PresentationFormat>
  <Paragraphs>73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Calibri</vt:lpstr>
      <vt:lpstr>Montserrat Extra-Bold</vt:lpstr>
      <vt:lpstr>微软雅黑</vt:lpstr>
      <vt:lpstr>Arial</vt:lpstr>
      <vt:lpstr>Montserrat Classic Bold</vt:lpstr>
      <vt:lpstr>Wingdings</vt:lpstr>
      <vt:lpstr>HarmonyOS Sans SC</vt:lpstr>
      <vt:lpstr>Office Theme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Project Proposal - Presentation</dc:title>
  <dc:creator>youyou</dc:creator>
  <cp:lastModifiedBy>廖 诗贻</cp:lastModifiedBy>
  <cp:revision>48</cp:revision>
  <dcterms:created xsi:type="dcterms:W3CDTF">2006-08-16T00:00:00Z</dcterms:created>
  <dcterms:modified xsi:type="dcterms:W3CDTF">2026-10-27T02:57:28Z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5B11C27C51744E629FB5A0EF20D982D9_13</vt:lpwstr>
  </property>
  <property fmtid="{D5CDD505-2E9C-101B-9397-08002B2CF9AE}" pid="3" name="KSOProductBuildVer">
    <vt:lpwstr>2052-12.1.0.18276</vt:lpwstr>
  </property>
</Properties>
</file>