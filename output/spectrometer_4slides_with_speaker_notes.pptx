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651" r:id="rId2"/>
  </p:sldMasterIdLst>
  <p:notesMasterIdLst>
    <p:notesMasterId r:id="rId12"/>
  </p:notesMasterIdLst>
  <p:sldIdLst>
    <p:sldId id="377" r:id="rId5"/>
    <p:sldId id="379" r:id="rId6"/>
    <p:sldId id="380" r:id="rId7"/>
    <p:sldId id="362" r:id="rId8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 Classic Bold" panose="02010600030101010101" charset="0"/>
      <p:bold r:id="rId17"/>
    </p:embeddedFont>
    <p:embeddedFont>
      <p:font typeface="Montserrat Extra-Bold" panose="02010600030101010101" charset="0"/>
      <p:bold r:id="rId18"/>
    </p:embeddedFont>
    <p:embeddedFont>
      <p:font typeface="微软雅黑" panose="020B0503020204020204" pitchFamily="34" charset="-122"/>
      <p:regular r:id="rId19"/>
      <p:bold r:id="rId20"/>
    </p:embeddedFont>
  </p:embeddedFontLst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26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314"/>
    <a:srgbClr val="0070C0"/>
    <a:srgbClr val="9F0105"/>
    <a:srgbClr val="1211CA"/>
    <a:srgbClr val="A002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46" d="100"/>
          <a:sy n="46" d="100"/>
        </p:scale>
        <p:origin x="63" y="192"/>
      </p:cViewPr>
      <p:guideLst>
        <p:guide orient="horz" pos="2116"/>
        <p:guide pos="26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tags" Target="tags/tag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第1页｜微型光谱仪：从台式系统走向片上集成</a:t>
            </a:r>
          </a:p>
          <a:p>
            <a:r>
              <a:rPr sz="1600">
                <a:latin typeface="微软雅黑"/>
              </a:rPr>
              <a:t>建议用时：约1分钟；累计约1分钟。</a:t>
            </a:r>
          </a:p>
          <a:p>
            <a:r>
              <a:rPr sz="1600">
                <a:latin typeface="微软雅黑"/>
              </a:rPr>
              <a:t>括号内是指图提示，不必念出。</a:t>
            </a:r>
          </a:p>
          <a:p/>
          <a:p>
            <a:r>
              <a:rPr sz="1600">
                <a:latin typeface="微软雅黑"/>
              </a:rPr>
              <a:t>大家好，下面我从背景和技术分类两个方面，介绍微型集成光谱仪。这部分主要参考 Yang 等人在2021年发表于《Science》的综述。</a:t>
            </a:r>
          </a:p>
          <a:p/>
          <a:p>
            <a:r>
              <a:rPr sz="1600">
                <a:latin typeface="微软雅黑"/>
              </a:rPr>
              <a:t>光谱仪测量的是光强随波长的分布。由于不同物质具有不同的特征光谱，我们可以利用这些“光谱指纹”，进行成分识别和分析。</a:t>
            </a:r>
          </a:p>
          <a:p/>
          <a:p>
            <a:r>
              <a:rPr sz="1600">
                <a:latin typeface="微软雅黑"/>
              </a:rPr>
              <a:t>传统台式光谱仪虽然性能优异，但通常依赖较大的光学器件、较长的光路，以及精密的机械结构，因此不容易放进手机、可穿戴设备，或者无人机中。</a:t>
            </a:r>
          </a:p>
          <a:p/>
          <a:p>
            <a:r>
              <a:rPr sz="1600">
                <a:latin typeface="微软雅黑"/>
              </a:rPr>
              <a:t>这就推动了光谱仪的微型化。（指下方时间线）论文梳理的技术发展，大致经历了从缩小传统光学组件，到采用平面波导和集成光学，再到利用编码和计算重建的过程。</a:t>
            </a:r>
          </a:p>
          <a:p/>
          <a:p>
            <a:r>
              <a:rPr sz="1600">
                <a:latin typeface="微软雅黑"/>
              </a:rPr>
              <a:t>这里的目标，是在满足应用要求的前提下，让光谱分析能够走出实验室，实现便携和现场检测。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第2页｜关键指标：分辨率、工作谱段与器件尺寸的权衡</a:t>
            </a:r>
          </a:p>
          <a:p>
            <a:r>
              <a:rPr sz="1600">
                <a:latin typeface="微软雅黑"/>
              </a:rPr>
              <a:t>建议用时：约1分20秒；累计约2分20秒。</a:t>
            </a:r>
          </a:p>
          <a:p>
            <a:r>
              <a:rPr sz="1600">
                <a:latin typeface="微软雅黑"/>
              </a:rPr>
              <a:t>括号内是指图提示，不必念出。</a:t>
            </a:r>
          </a:p>
          <a:p/>
          <a:p>
            <a:r>
              <a:rPr sz="1600">
                <a:latin typeface="微软雅黑"/>
              </a:rPr>
              <a:t>那么，光谱仪缩小之后，需要关注哪些性能？</a:t>
            </a:r>
          </a:p>
          <a:p/>
          <a:p>
            <a:r>
              <a:rPr sz="1600">
                <a:latin typeface="微软雅黑"/>
              </a:rPr>
              <a:t>首先是分辨率，也就是区分相邻光谱成分的能力，通常可以用窄谱响应的半高全宽来表征。数值越小，意味着能够分辨的光谱细节越精细。</a:t>
            </a:r>
          </a:p>
          <a:p/>
          <a:p>
            <a:r>
              <a:rPr sz="1600">
                <a:latin typeface="微软雅黑"/>
              </a:rPr>
              <a:t>但分辨率需要和工作谱段、尺寸、信噪比等指标一起评价。</a:t>
            </a:r>
          </a:p>
          <a:p/>
          <a:p>
            <a:r>
              <a:rPr sz="1600">
                <a:latin typeface="微软雅黑"/>
              </a:rPr>
              <a:t>（指左侧性能图）这张图直接来自论文。纵轴表示分辨率，横向线段表示器件覆盖的工作谱段，圆点大小则表示器件的尺寸。可以看到，不同方案各有侧重：有的覆盖范围较宽，有的分辨率较高，有的则追求极小的尺寸。</a:t>
            </a:r>
          </a:p>
          <a:p/>
          <a:p>
            <a:r>
              <a:rPr sz="1600">
                <a:latin typeface="微软雅黑"/>
              </a:rPr>
              <a:t>右侧列出了两个例子。论文介绍的螺旋波导计算光谱仪，实现了零点零一纳米的分辨率；单纳米线光谱仪则将尺寸缩小到数十微米量级，但其分辨率约为五到十纳米。</a:t>
            </a:r>
          </a:p>
          <a:p/>
          <a:p>
            <a:r>
              <a:rPr sz="1600">
                <a:latin typeface="微软雅黑"/>
              </a:rPr>
              <a:t>这两个例子说明，微型化存在性能权衡。选型时应先明确应用究竟需要识别宽的吸收特征，还是区分精细谱线，再决定采用怎样的器件。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第3页｜集成光谱仪分类：四种基本技术路线</a:t>
            </a:r>
          </a:p>
          <a:p>
            <a:r>
              <a:rPr sz="1600">
                <a:latin typeface="微软雅黑"/>
              </a:rPr>
              <a:t>建议用时：约1分25秒；累计约3分45秒。</a:t>
            </a:r>
          </a:p>
          <a:p>
            <a:r>
              <a:rPr sz="1600">
                <a:latin typeface="微软雅黑"/>
              </a:rPr>
              <a:t>括号内是指图提示，不必念出。</a:t>
            </a:r>
          </a:p>
          <a:p/>
          <a:p>
            <a:r>
              <a:rPr sz="1600">
                <a:latin typeface="微软雅黑"/>
              </a:rPr>
              <a:t>按照获取光谱信息的方式，这篇综述将微型光谱仪分为四类。</a:t>
            </a:r>
          </a:p>
          <a:p/>
          <a:p>
            <a:r>
              <a:rPr sz="1600">
                <a:latin typeface="微软雅黑"/>
              </a:rPr>
              <a:t>（指A）第一类是色散型。它让不同波长的光传播到不同位置，再由探测器阵列测量。简单来说，就是先把不同颜色的光分开，再分别检测。</a:t>
            </a:r>
          </a:p>
          <a:p/>
          <a:p>
            <a:r>
              <a:rPr sz="1600">
                <a:latin typeface="微软雅黑"/>
              </a:rPr>
              <a:t>（指B）第二类是窄带滤波型。它利用滤波器，只让特定波长附近的光通过。可以用多个滤波器同时采样，也可以调节单个滤波器，依次扫描不同波长。</a:t>
            </a:r>
          </a:p>
          <a:p/>
          <a:p>
            <a:r>
              <a:rPr sz="1600">
                <a:latin typeface="微软雅黑"/>
              </a:rPr>
              <a:t>（指C）第三类是傅里叶变换型。它先测量不同光程差下形成的干涉信号，再通过傅里叶变换，将干涉图转换为光谱。因此，测量对象从各波长的直接强度，转变成了包含光谱信息的干涉图。</a:t>
            </a:r>
          </a:p>
          <a:p/>
          <a:p>
            <a:r>
              <a:rPr sz="1600">
                <a:latin typeface="微软雅黑"/>
              </a:rPr>
              <a:t>（指D）第四类是计算重建型。它利用一组不同的、通常较宽带的响应，对入射光谱进行编码，再结合预先标定的响应和算法，反推出原始光谱。</a:t>
            </a:r>
          </a:p>
          <a:p/>
          <a:p>
            <a:r>
              <a:rPr sz="1600">
                <a:latin typeface="微软雅黑"/>
              </a:rPr>
              <a:t>这四类方案的核心区别，就是如何将波长信息转换成可以测量的信号。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第4页｜四类路线的片上实现</a:t>
            </a:r>
          </a:p>
          <a:p>
            <a:r>
              <a:rPr sz="1600">
                <a:latin typeface="微软雅黑"/>
              </a:rPr>
              <a:t>建议用时：约1分15秒；累计约5分钟。</a:t>
            </a:r>
          </a:p>
          <a:p>
            <a:r>
              <a:rPr sz="1600">
                <a:latin typeface="微软雅黑"/>
              </a:rPr>
              <a:t>括号内是指图提示，不必念出。</a:t>
            </a:r>
          </a:p>
          <a:p/>
          <a:p>
            <a:r>
              <a:rPr sz="1600">
                <a:latin typeface="微软雅黑"/>
              </a:rPr>
              <a:t>最后，我们结合论文中的器件图，看看这四种原理如何在芯片上实现。</a:t>
            </a:r>
          </a:p>
          <a:p/>
          <a:p>
            <a:r>
              <a:rPr sz="1600">
                <a:latin typeface="微软雅黑"/>
              </a:rPr>
              <a:t>（从左向右指图）第一种是阵列波导光栅。不同长度的波导引入不同相位，经过干涉后，使不同波长汇聚到不同的输出位置，这是色散型的典型实现。</a:t>
            </a:r>
          </a:p>
          <a:p/>
          <a:p>
            <a:r>
              <a:rPr sz="1600">
                <a:latin typeface="微软雅黑"/>
              </a:rPr>
              <a:t>第二种是微环谐振器。满足谐振条件的波长会被选择性耦合，因此可以利用微环构建紧凑的窄带滤波结构。</a:t>
            </a:r>
          </a:p>
          <a:p/>
          <a:p>
            <a:r>
              <a:rPr sz="1600">
                <a:latin typeface="微软雅黑"/>
              </a:rPr>
              <a:t>第三种是马赫—曾德尔干涉仪，也就是MZI阵列。阵列中的干涉仪具有不同光程差，能够并行采集不同的干涉信号，再恢复光谱。</a:t>
            </a:r>
          </a:p>
          <a:p/>
          <a:p>
            <a:r>
              <a:rPr sz="1600">
                <a:latin typeface="微软雅黑"/>
              </a:rPr>
              <a:t>第四种是螺旋波导计算光谱仪。不同波长会形成不同的输出散斑，通过预先标定这些响应，就可以利用测量结果重建入射光谱。</a:t>
            </a:r>
          </a:p>
          <a:p/>
          <a:p>
            <a:r>
              <a:rPr sz="1600">
                <a:latin typeface="微软雅黑"/>
              </a:rPr>
              <a:t>这四种结构展示了不同的设计思路。实际选择时，需要将目标谱段、分辨率、测量速度，以及标定和温度稳定性放在一起考虑。这也为后续进一步讨论集成计算光谱仪作了铺垫。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tags" Target="../tags/tag9.xml"/><Relationship Id="rId7" Type="http://schemas.openxmlformats.org/officeDocument/2006/relationships/tags" Target="../tags/tag10.xml"/><Relationship Id="rId8" Type="http://schemas.openxmlformats.org/officeDocument/2006/relationships/tags" Target="../tags/tag11.xml"/><Relationship Id="rId9" Type="http://schemas.openxmlformats.org/officeDocument/2006/relationships/tags" Target="../tags/tag12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 userDrawn="1"/>
        </p:nvGrpSpPr>
        <p:grpSpPr>
          <a:xfrm>
            <a:off x="1240790" y="0"/>
            <a:ext cx="212090" cy="5143500"/>
            <a:chOff x="0" y="0"/>
            <a:chExt cx="55859" cy="1354667"/>
          </a:xfrm>
        </p:grpSpPr>
        <p:sp>
          <p:nvSpPr>
            <p:cNvPr id="7" name="Freeform 3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8" name="TextBox 4"/>
            <p:cNvSpPr txBox="1"/>
            <p:nvPr>
              <p:custDataLst>
                <p:tags r:id="rId9"/>
              </p:custDataLst>
            </p:nvPr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7"/>
          <p:cNvSpPr txBox="1"/>
          <p:nvPr userDrawn="1">
            <p:custDataLst>
              <p:tags r:id="rId1"/>
            </p:custDataLst>
          </p:nvPr>
        </p:nvSpPr>
        <p:spPr>
          <a:xfrm rot="-5400000">
            <a:off x="-775100" y="7118750"/>
            <a:ext cx="3974630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</a:pPr>
            <a:r>
              <a:rPr lang="en-US" sz="2800" b="1">
                <a:solidFill>
                  <a:srgbClr val="101010"/>
                </a:solidFill>
                <a:latin typeface="微软雅黑" panose="020B0503020204020204" charset="-122"/>
                <a:ea typeface="微软雅黑" panose="020B0503020204020204" charset="-122"/>
              </a:rPr>
              <a:t>photonics.pku.edu.cn</a:t>
            </a:r>
          </a:p>
        </p:txBody>
      </p:sp>
      <p:grpSp>
        <p:nvGrpSpPr>
          <p:cNvPr id="10" name="Group 10"/>
          <p:cNvGrpSpPr/>
          <p:nvPr userDrawn="1"/>
        </p:nvGrpSpPr>
        <p:grpSpPr>
          <a:xfrm>
            <a:off x="14500955" y="1866623"/>
            <a:ext cx="2758345" cy="245871"/>
            <a:chOff x="0" y="0"/>
            <a:chExt cx="726478" cy="64756"/>
          </a:xfrm>
        </p:grpSpPr>
        <p:sp>
          <p:nvSpPr>
            <p:cNvPr id="11" name="Freeform 11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12" name="TextBox 12"/>
            <p:cNvSpPr txBox="1"/>
            <p:nvPr>
              <p:custDataLst>
                <p:tags r:id="rId7"/>
              </p:custDataLst>
            </p:nvPr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/>
          <a:srcRect l="41870" t="-6158"/>
          <a:stretch>
            <a:fillRect/>
          </a:stretch>
        </p:blipFill>
        <p:spPr>
          <a:xfrm>
            <a:off x="13044170" y="671195"/>
            <a:ext cx="4542790" cy="10509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1"/>
          <a:srcRect l="917" t="-6158" r="63005" b="-1604"/>
          <a:stretch>
            <a:fillRect/>
          </a:stretch>
        </p:blipFill>
        <p:spPr>
          <a:xfrm>
            <a:off x="10210800" y="647700"/>
            <a:ext cx="2819400" cy="1066800"/>
          </a:xfrm>
          <a:prstGeom prst="rect">
            <a:avLst/>
          </a:prstGeom>
        </p:spPr>
      </p:pic>
      <p:sp>
        <p:nvSpPr>
          <p:cNvPr id="14" name="Footer Placeholder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7772400" y="9334500"/>
            <a:ext cx="2895600" cy="365125"/>
          </a:xfrm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5087600" y="9334500"/>
            <a:ext cx="2133600" cy="365125"/>
          </a:xfrm>
        </p:spPr>
        <p:txBody>
          <a:bodyPr/>
          <a:lstStyle>
            <a:lvl1pPr algn="r"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9258300"/>
            <a:ext cx="21336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772400" y="9334500"/>
            <a:ext cx="2895600" cy="365125"/>
          </a:xfrm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087600" y="9334500"/>
            <a:ext cx="2133600" cy="365125"/>
          </a:xfrm>
        </p:spPr>
        <p:txBody>
          <a:bodyPr/>
          <a:lstStyle>
            <a:lvl1pPr algn="r">
              <a:defRPr sz="2000"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>
            <p:custDataLst>
              <p:tags r:id="rId1"/>
            </p:custDataLst>
          </p:nvPr>
        </p:nvSpPr>
        <p:spPr>
          <a:xfrm>
            <a:off x="4451985" y="144780"/>
            <a:ext cx="93840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42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" name="直接连接符 1"/>
          <p:cNvCxnSpPr/>
          <p:nvPr userDrawn="1">
            <p:custDataLst>
              <p:tags r:id="rId2"/>
            </p:custDataLst>
          </p:nvPr>
        </p:nvCxnSpPr>
        <p:spPr>
          <a:xfrm>
            <a:off x="1172528" y="1017270"/>
            <a:ext cx="15874365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42134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3149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63049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30359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>
            <p:custDataLst>
              <p:tags r:id="rId1"/>
            </p:custDataLst>
          </p:nvPr>
        </p:nvCxnSpPr>
        <p:spPr>
          <a:xfrm>
            <a:off x="1172528" y="1017270"/>
            <a:ext cx="15874365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7175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66962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29021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6089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0905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86359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63203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615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004867" y="9667531"/>
            <a:ext cx="4114800" cy="547688"/>
          </a:xfrm>
        </p:spPr>
        <p:txBody>
          <a:bodyPr/>
          <a:lstStyle>
            <a:lvl1pPr>
              <a:defRPr sz="21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86AB646-09EA-441B-8B03-D5BB830239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18288000" cy="10931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</p:spTree>
    <p:extLst>
      <p:ext uri="{BB962C8B-B14F-4D97-AF65-F5344CB8AC3E}">
        <p14:creationId xmlns:p14="http://schemas.microsoft.com/office/powerpoint/2010/main" val="4112033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tags" Target="../tags/tag2.xml"/><Relationship Id="rId5" Type="http://schemas.openxmlformats.org/officeDocument/2006/relationships/tags" Target="../tags/tag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7772400" y="9334500"/>
            <a:ext cx="2895600" cy="365125"/>
          </a:xfrm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5087600" y="9334500"/>
            <a:ext cx="2133600" cy="365125"/>
          </a:xfrm>
        </p:spPr>
        <p:txBody>
          <a:bodyPr/>
          <a:lstStyle>
            <a:lvl1pPr algn="r"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9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2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tags" Target="../tags/tag2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4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028700" y="1346200"/>
            <a:ext cx="1856740" cy="67945"/>
          </a:xfrm>
          <a:custGeom>
            <a:avLst/>
            <a:gdLst/>
            <a:ahLst/>
            <a:cxnLst/>
            <a:rect l="l" t="t" r="r" b="b"/>
            <a:pathLst>
              <a:path w="488993" h="17928">
                <a:moveTo>
                  <a:pt x="0" y="0"/>
                </a:moveTo>
                <a:lnTo>
                  <a:pt x="488993" y="0"/>
                </a:lnTo>
                <a:lnTo>
                  <a:pt x="488993" y="17928"/>
                </a:lnTo>
                <a:lnTo>
                  <a:pt x="0" y="17928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</p:sp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l="917" t="-6158" r="88077" b="-1604"/>
          <a:stretch>
            <a:fillRect/>
          </a:stretch>
        </p:blipFill>
        <p:spPr>
          <a:xfrm>
            <a:off x="14497685" y="609600"/>
            <a:ext cx="894715" cy="1109345"/>
          </a:xfrm>
          <a:prstGeom prst="rect">
            <a:avLst/>
          </a:prstGeom>
        </p:spPr>
      </p:pic>
      <p:sp>
        <p:nvSpPr>
          <p:cNvPr id="12" name="TextBox 12"/>
          <p:cNvSpPr txBox="1"/>
          <p:nvPr>
            <p:custDataLst>
              <p:tags r:id="rId2"/>
            </p:custDataLst>
          </p:nvPr>
        </p:nvSpPr>
        <p:spPr>
          <a:xfrm>
            <a:off x="15321280" y="952500"/>
            <a:ext cx="1884680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6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en-US" sz="6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PL</a:t>
            </a:r>
          </a:p>
        </p:txBody>
      </p:sp>
      <p:sp>
        <p:nvSpPr>
          <p:cNvPr id="3" name="TextBox 20"/>
          <p:cNvSpPr txBox="1"/>
          <p:nvPr/>
        </p:nvSpPr>
        <p:spPr>
          <a:xfrm>
            <a:off x="1028700" y="752475"/>
            <a:ext cx="7315200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zh-CN" altLang="en-US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背景介绍及简介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71500"/>
            <a:ext cx="935355" cy="8337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4128" y="1755648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4400" b="1">
                <a:solidFill>
                  <a:srgbClr val="42ABC5"/>
                </a:solidFill>
                <a:latin typeface="微软雅黑"/>
              </a:rPr>
              <a:t>微型光谱仪：从台式系统走向片上集成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0" y="9601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62A"/>
                </a:solidFill>
                <a:latin typeface="微软雅黑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697480"/>
            <a:ext cx="16139159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800" b="0">
                <a:solidFill>
                  <a:srgbClr val="2D262A"/>
                </a:solidFill>
                <a:latin typeface="微软雅黑"/>
              </a:rPr>
              <a:t>▪ 光谱分析利用物质的特征光谱，服务于化学分析、医学诊断及原位检测。</a:t>
            </a:r>
          </a:p>
          <a:p>
            <a:pPr>
              <a:spcAft>
                <a:spcPts val="1200"/>
              </a:spcAft>
            </a:pPr>
            <a:r>
              <a:rPr sz="2800" b="0">
                <a:solidFill>
                  <a:srgbClr val="2D262A"/>
                </a:solidFill>
                <a:latin typeface="微软雅黑"/>
              </a:rPr>
              <a:t>▪ 传统系统依赖较大的光学器件、长光路和移动部件，限制便携化与现场应用。</a:t>
            </a:r>
          </a:p>
          <a:p>
            <a:pPr>
              <a:spcAft>
                <a:spcPts val="1200"/>
              </a:spcAft>
            </a:pPr>
            <a:r>
              <a:rPr sz="2800" b="0">
                <a:solidFill>
                  <a:srgbClr val="2D262A"/>
                </a:solidFill>
                <a:latin typeface="微软雅黑"/>
              </a:rPr>
              <a:t>▪ 微型化推动智能手机、芯片实验室及无人机光谱成像等新应用。</a:t>
            </a:r>
          </a:p>
        </p:txBody>
      </p:sp>
      <p:pic>
        <p:nvPicPr>
          <p:cNvPr id="19" name="Picture 18" descr="timel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9383" y="4251960"/>
            <a:ext cx="10953808" cy="49103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030200" y="443484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42ABC5"/>
                </a:solidFill>
                <a:latin typeface="微软雅黑"/>
              </a:rPr>
              <a:t>技术演进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0200" y="5166360"/>
            <a:ext cx="4160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700" b="0">
                <a:solidFill>
                  <a:srgbClr val="2D262A"/>
                </a:solidFill>
                <a:latin typeface="微软雅黑"/>
              </a:rPr>
              <a:t>早期：缩小传统光学组件</a:t>
            </a:r>
          </a:p>
          <a:p>
            <a:pPr>
              <a:spcAft>
                <a:spcPts val="1200"/>
              </a:spcAft>
            </a:pPr>
            <a:r>
              <a:rPr sz="2700" b="0">
                <a:solidFill>
                  <a:srgbClr val="2D262A"/>
                </a:solidFill>
                <a:latin typeface="微软雅黑"/>
              </a:rPr>
              <a:t>随后：平面波导与集成光学</a:t>
            </a:r>
          </a:p>
          <a:p>
            <a:pPr>
              <a:spcAft>
                <a:spcPts val="1200"/>
              </a:spcAft>
            </a:pPr>
            <a:r>
              <a:rPr sz="2700" b="0">
                <a:solidFill>
                  <a:srgbClr val="2D262A"/>
                </a:solidFill>
                <a:latin typeface="微软雅黑"/>
              </a:rPr>
              <a:t>近年来：编码与计算重建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918057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D262A"/>
                </a:solidFill>
                <a:latin typeface="微软雅黑"/>
              </a:rPr>
              <a:t>Fig. 6B  微型光谱仪技术平台的发展时间线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9555480"/>
            <a:ext cx="151790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647780"/>
                </a:solidFill>
                <a:latin typeface="微软雅黑"/>
              </a:rPr>
              <a:t>图源：Yang et al., Science 371, eabe0722 (2021), Fig. 6B；DOI: 10.1126/science.abe0722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028700" y="1346200"/>
            <a:ext cx="1856740" cy="67945"/>
          </a:xfrm>
          <a:custGeom>
            <a:avLst/>
            <a:gdLst/>
            <a:ahLst/>
            <a:cxnLst/>
            <a:rect l="l" t="t" r="r" b="b"/>
            <a:pathLst>
              <a:path w="488993" h="17928">
                <a:moveTo>
                  <a:pt x="0" y="0"/>
                </a:moveTo>
                <a:lnTo>
                  <a:pt x="488993" y="0"/>
                </a:lnTo>
                <a:lnTo>
                  <a:pt x="488993" y="17928"/>
                </a:lnTo>
                <a:lnTo>
                  <a:pt x="0" y="17928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</p:sp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rcRect l="917" t="-6158" r="88077" b="-1604"/>
          <a:stretch>
            <a:fillRect/>
          </a:stretch>
        </p:blipFill>
        <p:spPr>
          <a:xfrm>
            <a:off x="14497685" y="609600"/>
            <a:ext cx="894715" cy="1109345"/>
          </a:xfrm>
          <a:prstGeom prst="rect">
            <a:avLst/>
          </a:prstGeom>
        </p:spPr>
      </p:pic>
      <p:sp>
        <p:nvSpPr>
          <p:cNvPr id="12" name="TextBox 12"/>
          <p:cNvSpPr txBox="1"/>
          <p:nvPr>
            <p:custDataLst>
              <p:tags r:id="rId2"/>
            </p:custDataLst>
          </p:nvPr>
        </p:nvSpPr>
        <p:spPr>
          <a:xfrm>
            <a:off x="15321280" y="952500"/>
            <a:ext cx="1884680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6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en-US" sz="6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PL</a:t>
            </a:r>
          </a:p>
        </p:txBody>
      </p:sp>
      <p:sp>
        <p:nvSpPr>
          <p:cNvPr id="7" name="TextBox 20"/>
          <p:cNvSpPr txBox="1"/>
          <p:nvPr/>
        </p:nvSpPr>
        <p:spPr>
          <a:xfrm>
            <a:off x="1028700" y="752475"/>
            <a:ext cx="7315200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zh-CN" altLang="en-US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背景介绍及简介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71500"/>
            <a:ext cx="935355" cy="8337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4128" y="1755648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4400" b="1">
                <a:solidFill>
                  <a:srgbClr val="42ABC5"/>
                </a:solidFill>
                <a:latin typeface="微软雅黑"/>
              </a:rPr>
              <a:t>关键指标：分辨率、工作谱段与器件尺寸的权衡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0" y="9601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62A"/>
                </a:solidFill>
                <a:latin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697480"/>
            <a:ext cx="161391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800" b="0">
                <a:solidFill>
                  <a:srgbClr val="2D262A"/>
                </a:solidFill>
                <a:latin typeface="微软雅黑"/>
              </a:rPr>
              <a:t>▪ 分辨率常以窄谱响应的半高全宽（FWHM）表征；还需同时关注带宽、动态范围和信噪比。</a:t>
            </a:r>
          </a:p>
          <a:p>
            <a:pPr>
              <a:spcAft>
                <a:spcPts val="1200"/>
              </a:spcAft>
            </a:pPr>
            <a:r>
              <a:rPr sz="2800" b="0">
                <a:solidFill>
                  <a:srgbClr val="2D262A"/>
                </a:solidFill>
                <a:latin typeface="微软雅黑"/>
              </a:rPr>
              <a:t>▪ 微型化并不意味着所有性能同步提升，应根据应用需要选择“足够好”的指标。</a:t>
            </a:r>
          </a:p>
        </p:txBody>
      </p:sp>
      <p:pic>
        <p:nvPicPr>
          <p:cNvPr id="19" name="Picture 18" descr="performa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2496" y="4041648"/>
            <a:ext cx="10387584" cy="51937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030200" y="41422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42ABC5"/>
                </a:solidFill>
                <a:latin typeface="微软雅黑"/>
              </a:rPr>
              <a:t>论文中的实例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0200" y="4892040"/>
            <a:ext cx="42062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螺旋波导计算光谱仪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分辨率：0.01 nm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（正文第6页，ref. 83）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单纳米线光谱仪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分辨率：约 5–10 nm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尺寸：数十微米量级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（正文第7页，ref. 13）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917143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62A"/>
                </a:solidFill>
                <a:latin typeface="微软雅黑"/>
              </a:rPr>
              <a:t>Fig. 6A  纵轴为分辨率；横线为工作谱段；圆点大小表示器件尺寸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9555480"/>
            <a:ext cx="151790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647780"/>
                </a:solidFill>
                <a:latin typeface="微软雅黑"/>
              </a:rPr>
              <a:t>图源：Yang et al., Science 371, eabe0722 (2021), Fig. 6A；正文 pp. 6–7；DOI: 10.1126/science.abe0722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028700" y="1346200"/>
            <a:ext cx="1856740" cy="67945"/>
          </a:xfrm>
          <a:custGeom>
            <a:avLst/>
            <a:gdLst/>
            <a:ahLst/>
            <a:cxnLst/>
            <a:rect l="l" t="t" r="r" b="b"/>
            <a:pathLst>
              <a:path w="488993" h="17928">
                <a:moveTo>
                  <a:pt x="0" y="0"/>
                </a:moveTo>
                <a:lnTo>
                  <a:pt x="488993" y="0"/>
                </a:lnTo>
                <a:lnTo>
                  <a:pt x="488993" y="17928"/>
                </a:lnTo>
                <a:lnTo>
                  <a:pt x="0" y="17928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</p:sp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rcRect l="917" t="-6158" r="88077" b="-1604"/>
          <a:stretch>
            <a:fillRect/>
          </a:stretch>
        </p:blipFill>
        <p:spPr>
          <a:xfrm>
            <a:off x="14497685" y="609600"/>
            <a:ext cx="894715" cy="1109345"/>
          </a:xfrm>
          <a:prstGeom prst="rect">
            <a:avLst/>
          </a:prstGeom>
        </p:spPr>
      </p:pic>
      <p:sp>
        <p:nvSpPr>
          <p:cNvPr id="12" name="TextBox 12"/>
          <p:cNvSpPr txBox="1"/>
          <p:nvPr>
            <p:custDataLst>
              <p:tags r:id="rId2"/>
            </p:custDataLst>
          </p:nvPr>
        </p:nvSpPr>
        <p:spPr>
          <a:xfrm>
            <a:off x="15321280" y="952500"/>
            <a:ext cx="1884680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6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en-US" sz="6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PL</a:t>
            </a:r>
          </a:p>
        </p:txBody>
      </p:sp>
      <p:sp>
        <p:nvSpPr>
          <p:cNvPr id="11" name="TextBox 20"/>
          <p:cNvSpPr txBox="1"/>
          <p:nvPr/>
        </p:nvSpPr>
        <p:spPr>
          <a:xfrm>
            <a:off x="1028700" y="752475"/>
            <a:ext cx="7315200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zh-CN" altLang="en-US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集成光谱仪分类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71500"/>
            <a:ext cx="935355" cy="8337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4128" y="1755648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4400" b="1">
                <a:solidFill>
                  <a:srgbClr val="42ABC5"/>
                </a:solidFill>
                <a:latin typeface="微软雅黑"/>
              </a:rPr>
              <a:t>集成光谱仪分类：四种基本技术路线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50640" y="9601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62A"/>
                </a:solidFill>
                <a:latin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697480"/>
            <a:ext cx="161391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800" b="0">
                <a:solidFill>
                  <a:srgbClr val="2D262A"/>
                </a:solidFill>
                <a:latin typeface="微软雅黑"/>
              </a:rPr>
              <a:t>▪ 按光谱信息获取方式，Yang 等将微型光谱仪归纳为以下四类。</a:t>
            </a:r>
          </a:p>
        </p:txBody>
      </p:sp>
      <p:pic>
        <p:nvPicPr>
          <p:cNvPr id="20" name="Picture 19" descr="classific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735" y="3611880"/>
            <a:ext cx="10372785" cy="56235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801600" y="368503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42ABC5"/>
                </a:solidFill>
                <a:latin typeface="微软雅黑"/>
              </a:rPr>
              <a:t>A  色散型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0" y="420624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不同波长在空间分离，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由探测阵列读出。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0" y="509320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42ABC5"/>
                </a:solidFill>
                <a:latin typeface="微软雅黑"/>
              </a:rPr>
              <a:t>B  窄带滤波型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0" y="5614416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选择性透射特定波长，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以阵列或调谐方式采样。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0" y="650138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42ABC5"/>
                </a:solidFill>
                <a:latin typeface="微软雅黑"/>
              </a:rPr>
              <a:t>C  傅里叶变换型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0" y="7022592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采集干涉图，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通过傅里叶变换获得光谱。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0" y="79095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42ABC5"/>
                </a:solidFill>
                <a:latin typeface="微软雅黑"/>
              </a:rPr>
              <a:t>D  计算重建型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0" y="843076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记录不同的宽带响应，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2D262A"/>
                </a:solidFill>
                <a:latin typeface="微软雅黑"/>
              </a:rPr>
              <a:t>结合标定信息反演光谱。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9555480"/>
            <a:ext cx="151790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647780"/>
                </a:solidFill>
                <a:latin typeface="微软雅黑"/>
              </a:rPr>
              <a:t>图源：Yang et al., Science 371, eabe0722 (2021), Fig. 1A–D；DOI: 10.1126/science.abe0722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1028700" y="1346200"/>
            <a:ext cx="1856740" cy="67945"/>
          </a:xfrm>
          <a:custGeom>
            <a:avLst/>
            <a:gdLst/>
            <a:ahLst/>
            <a:cxnLst/>
            <a:rect l="l" t="t" r="r" b="b"/>
            <a:pathLst>
              <a:path w="488993" h="17928">
                <a:moveTo>
                  <a:pt x="0" y="0"/>
                </a:moveTo>
                <a:lnTo>
                  <a:pt x="488993" y="0"/>
                </a:lnTo>
                <a:lnTo>
                  <a:pt x="488993" y="17928"/>
                </a:lnTo>
                <a:lnTo>
                  <a:pt x="0" y="17928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</p:sp>
      <p:sp>
        <p:nvSpPr>
          <p:cNvPr id="20" name="TextBox 20"/>
          <p:cNvSpPr txBox="1"/>
          <p:nvPr/>
        </p:nvSpPr>
        <p:spPr>
          <a:xfrm>
            <a:off x="1028700" y="752475"/>
            <a:ext cx="7315200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zh-CN" altLang="en-US" sz="2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集成光谱仪分类</a:t>
            </a:r>
          </a:p>
        </p:txBody>
      </p:sp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rcRect l="917" t="-6158" r="88077" b="-1604"/>
          <a:stretch>
            <a:fillRect/>
          </a:stretch>
        </p:blipFill>
        <p:spPr>
          <a:xfrm>
            <a:off x="14497685" y="609600"/>
            <a:ext cx="894715" cy="1109345"/>
          </a:xfrm>
          <a:prstGeom prst="rect">
            <a:avLst/>
          </a:prstGeom>
        </p:spPr>
      </p:pic>
      <p:sp>
        <p:nvSpPr>
          <p:cNvPr id="12" name="TextBox 12"/>
          <p:cNvSpPr txBox="1"/>
          <p:nvPr>
            <p:custDataLst>
              <p:tags r:id="rId2"/>
            </p:custDataLst>
          </p:nvPr>
        </p:nvSpPr>
        <p:spPr>
          <a:xfrm>
            <a:off x="15321280" y="952500"/>
            <a:ext cx="1884680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60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en-US" sz="6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PL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71500"/>
            <a:ext cx="935355" cy="8337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4128" y="1755648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4400" b="1">
                <a:solidFill>
                  <a:srgbClr val="42ABC5"/>
                </a:solidFill>
                <a:latin typeface="微软雅黑"/>
              </a:rPr>
              <a:t>四类路线的片上实现：从器件结构理解工作原理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50640" y="9601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D262A"/>
                </a:solidFill>
                <a:latin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697480"/>
            <a:ext cx="16139159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800" b="0">
                <a:solidFill>
                  <a:srgbClr val="2D262A"/>
                </a:solidFill>
                <a:latin typeface="微软雅黑"/>
              </a:rPr>
              <a:t>▪ 色散与窄带滤波通过波长选择得到信号；干涉与计算重建从编码测量中恢复光谱。</a:t>
            </a:r>
          </a:p>
          <a:p>
            <a:pPr>
              <a:spcAft>
                <a:spcPts val="1200"/>
              </a:spcAft>
            </a:pPr>
            <a:r>
              <a:rPr sz="2800" b="0">
                <a:solidFill>
                  <a:srgbClr val="2D262A"/>
                </a:solidFill>
                <a:latin typeface="微软雅黑"/>
              </a:rPr>
              <a:t>▪ 下图均为 2021 年综述收录的实际器件方案，图内为论文原始示意或显微照片。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20624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42ABC5"/>
                </a:solidFill>
                <a:latin typeface="微软雅黑"/>
              </a:rPr>
              <a:t>色散型</a:t>
            </a:r>
          </a:p>
        </p:txBody>
      </p:sp>
      <p:pic>
        <p:nvPicPr>
          <p:cNvPr id="25" name="Picture 24" descr="aw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" y="5413743"/>
            <a:ext cx="3794760" cy="18369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4128" y="790956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D262A"/>
                </a:solidFill>
                <a:latin typeface="微软雅黑"/>
              </a:rPr>
              <a:t>Fig. 2I  阵列波导光栅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8449056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2D262A"/>
                </a:solidFill>
                <a:latin typeface="微软雅黑"/>
              </a:rPr>
              <a:t>波导阵列产生相位差，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2D262A"/>
                </a:solidFill>
                <a:latin typeface="微软雅黑"/>
              </a:rPr>
              <a:t>不同波长汇聚到不同输出。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420624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42ABC5"/>
                </a:solidFill>
                <a:latin typeface="微软雅黑"/>
              </a:rPr>
              <a:t>窄带滤波型</a:t>
            </a:r>
          </a:p>
        </p:txBody>
      </p:sp>
      <p:pic>
        <p:nvPicPr>
          <p:cNvPr id="29" name="Picture 28" descr="r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8928" y="5577580"/>
            <a:ext cx="3794760" cy="150927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38928" y="790956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D262A"/>
                </a:solidFill>
                <a:latin typeface="微软雅黑"/>
              </a:rPr>
              <a:t>Fig. 3E  微环谐振器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8449056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2D262A"/>
                </a:solidFill>
                <a:latin typeface="微软雅黑"/>
              </a:rPr>
              <a:t>谐振器选择特定波长，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2D262A"/>
                </a:solidFill>
                <a:latin typeface="微软雅黑"/>
              </a:rPr>
              <a:t>可组合成片上滤波结构。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420624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42ABC5"/>
                </a:solidFill>
                <a:latin typeface="微软雅黑"/>
              </a:rPr>
              <a:t>傅里叶变换型</a:t>
            </a:r>
          </a:p>
        </p:txBody>
      </p:sp>
      <p:pic>
        <p:nvPicPr>
          <p:cNvPr id="33" name="Picture 32" descr="ft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7354" y="4937760"/>
            <a:ext cx="3547506" cy="2788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253728" y="790956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D262A"/>
                </a:solidFill>
                <a:latin typeface="微软雅黑"/>
              </a:rPr>
              <a:t>Fig. 4B  MZI 阵列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8449056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2D262A"/>
                </a:solidFill>
                <a:latin typeface="微软雅黑"/>
              </a:rPr>
              <a:t>不同光程差的干涉仪并行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2D262A"/>
                </a:solidFill>
                <a:latin typeface="微软雅黑"/>
              </a:rPr>
              <a:t>采样，形成可反演的干涉图。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68528" y="420624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42ABC5"/>
                </a:solidFill>
                <a:latin typeface="微软雅黑"/>
              </a:rPr>
              <a:t>计算重建型</a:t>
            </a:r>
          </a:p>
        </p:txBody>
      </p:sp>
      <p:pic>
        <p:nvPicPr>
          <p:cNvPr id="37" name="Picture 36" descr="spir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68528" y="5344327"/>
            <a:ext cx="3794760" cy="19757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368528" y="790956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2D262A"/>
                </a:solidFill>
                <a:latin typeface="微软雅黑"/>
              </a:rPr>
              <a:t>Fig. 5C  螺旋波导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68528" y="8449056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2D262A"/>
                </a:solidFill>
                <a:latin typeface="微软雅黑"/>
              </a:rPr>
              <a:t>波长相关散斑作为编码，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2D262A"/>
                </a:solidFill>
                <a:latin typeface="微软雅黑"/>
              </a:rPr>
              <a:t>结合预标定响应重建光谱。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9555480"/>
            <a:ext cx="151790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647780"/>
                </a:solidFill>
                <a:latin typeface="微软雅黑"/>
              </a:rPr>
              <a:t>图源：Yang et al., Science 371, eabe0722 (2021), Fig. 2I / 3E / 4B / 5C；DOI: 10.1126/science.abe0722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609bdd2-04c5-4812-8440-e56f09348c0c"/>
  <p:tag name="COMMONDATA" val="eyJoZGlkIjoiYmQ3NGM2NGQ0MWZlYjcyZTQyYjFiNzM2YTliNGQyY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36,&quot;width&quot;:14496}"/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505</Words>
  <Application>Microsoft Office PowerPoint</Application>
  <PresentationFormat>自定义</PresentationFormat>
  <Paragraphs>73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Calibri</vt:lpstr>
      <vt:lpstr>Montserrat Extra-Bold</vt:lpstr>
      <vt:lpstr>微软雅黑</vt:lpstr>
      <vt:lpstr>Arial</vt:lpstr>
      <vt:lpstr>Montserrat Classic Bold</vt:lpstr>
      <vt:lpstr>Wingdings</vt:lpstr>
      <vt:lpstr>HarmonyOS Sans SC</vt:lpstr>
      <vt:lpstr>Office Theme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Project Proposal - Presentation</dc:title>
  <dc:creator>youyou</dc:creator>
  <cp:lastModifiedBy>廖 诗贻</cp:lastModifiedBy>
  <cp:revision>48</cp:revision>
  <dcterms:created xsi:type="dcterms:W3CDTF">2006-08-16T00:00:00Z</dcterms:created>
  <dcterms:modified xsi:type="dcterms:W3CDTF">2026-10-27T02:57:28Z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5B11C27C51744E629FB5A0EF20D982D9_13</vt:lpwstr>
  </property>
  <property fmtid="{D5CDD505-2E9C-101B-9397-08002B2CF9AE}" pid="3" name="KSOProductBuildVer">
    <vt:lpwstr>2052-12.1.0.18276</vt:lpwstr>
  </property>
</Properties>
</file>